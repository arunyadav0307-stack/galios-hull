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114800" cy="4160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128016"/>
            <a:ext cx="3895344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" b="1">
                <a:solidFill>
                  <a:srgbClr val="000000"/>
                </a:solidFill>
                <a:latin typeface="Times New Roman"/>
              </a:rPr>
              <a:t>QUANTUM PROCESSING UNIT (QPU) — HILBERT 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566928"/>
            <a:ext cx="1143000" cy="1143000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Quantum Feature
Map Encoding
U_Φ(x)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17904" y="566928"/>
            <a:ext cx="120700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Variational
Ansatz Circuit
U_var(θ^(t))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1216" y="566928"/>
            <a:ext cx="987552" cy="1143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Projective
Readout
{Ô_k}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2194560"/>
            <a:ext cx="389534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2231136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" b="1">
                <a:solidFill>
                  <a:srgbClr val="000000"/>
                </a:solidFill>
                <a:latin typeface="Times New Roman"/>
              </a:rPr>
              <a:t>CLASSICAL CO-PROCESSOR (CPU / GPU)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2633472"/>
            <a:ext cx="114300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00" b="0">
                <a:solidFill>
                  <a:srgbClr val="000000"/>
                </a:solidFill>
                <a:latin typeface="Times New Roman"/>
              </a:rPr>
              <a:t>Classical Data
Preprocessing
x ∈ R^d → x̃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7904" y="2633472"/>
            <a:ext cx="120700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00" b="1">
                <a:solidFill>
                  <a:srgbClr val="000000"/>
                </a:solidFill>
                <a:latin typeface="Times New Roman"/>
              </a:rPr>
              <a:t>Optimizer &amp;
Gradient Engine
Adam / SPSA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2633472"/>
            <a:ext cx="987552" cy="1188720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00" b="0">
                <a:solidFill>
                  <a:srgbClr val="000000"/>
                </a:solidFill>
                <a:latin typeface="Times New Roman"/>
              </a:rPr>
              <a:t>Empirical Loss
L(θ) &amp; Output
Prediction ŷ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04672" y="1709928"/>
            <a:ext cx="0" cy="923544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64992" y="1709928"/>
            <a:ext cx="0" cy="923544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121408" y="1709928"/>
            <a:ext cx="0" cy="923544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