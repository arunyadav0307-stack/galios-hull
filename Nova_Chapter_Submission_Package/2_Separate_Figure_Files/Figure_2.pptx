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114800" cy="49377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128016"/>
            <a:ext cx="3529584" cy="475488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20" b="0">
                <a:solidFill>
                  <a:srgbClr val="000000"/>
                </a:solidFill>
                <a:latin typeface="Times New Roman"/>
              </a:rPr>
              <a:t>1. Problem Specification: Cost Hamiltonian H_C, Oracle f(x), or Dataset {(x_i, y_i)}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768096"/>
            <a:ext cx="3529584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20" b="0">
                <a:solidFill>
                  <a:srgbClr val="000000"/>
                </a:solidFill>
                <a:latin typeface="Times New Roman"/>
              </a:rPr>
              <a:t>2. Algorithmic Paradigm &amp; Data Encoding Design (Amplitude / Angle / Kernel Map)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" y="1408176"/>
            <a:ext cx="3529584" cy="475488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20" b="0">
                <a:solidFill>
                  <a:srgbClr val="000000"/>
                </a:solidFill>
                <a:latin typeface="Times New Roman"/>
              </a:rPr>
              <a:t>3. Hardware-Aware Compilation: Native Gate Synthesis &amp; Qubit Routing</a:t>
            </a:r>
          </a:p>
        </p:txBody>
      </p:sp>
      <p:sp>
        <p:nvSpPr>
          <p:cNvPr id="5" name="Diamond 4"/>
          <p:cNvSpPr/>
          <p:nvPr/>
        </p:nvSpPr>
        <p:spPr>
          <a:xfrm>
            <a:off x="1051560" y="2048256"/>
            <a:ext cx="2011680" cy="5669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20" b="1">
                <a:solidFill>
                  <a:srgbClr val="000000"/>
                </a:solidFill>
                <a:latin typeface="Times New Roman"/>
              </a:rPr>
              <a:t>Hardware Regime?
NISQ vs. Fault-Tolerant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2779776"/>
            <a:ext cx="181051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680" b="0">
                <a:solidFill>
                  <a:srgbClr val="000000"/>
                </a:solidFill>
                <a:latin typeface="Times New Roman"/>
              </a:rPr>
              <a:t>4a. NISQ Execution:
Shallow PQC + Error Mitigation
(ZNE, PEC, Readout Mitigation)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39696" y="2779776"/>
            <a:ext cx="1810512" cy="822960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680" b="0">
                <a:solidFill>
                  <a:srgbClr val="000000"/>
                </a:solidFill>
                <a:latin typeface="Times New Roman"/>
              </a:rPr>
              <a:t>4b. Fault-Tolerant Execution:
Logical Qubits (p &lt; p_thr),
Surface Code &amp; T-Distillation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3785615"/>
            <a:ext cx="352958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20" b="0">
                <a:solidFill>
                  <a:srgbClr val="000000"/>
                </a:solidFill>
                <a:latin typeface="Times New Roman"/>
              </a:rPr>
              <a:t>5. Shot Readout, Observable Estimation ⟨Ô⟩ ± σ/√M &amp; Optimizer Update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" y="4370832"/>
            <a:ext cx="3529584" cy="438912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20" b="1">
                <a:solidFill>
                  <a:srgbClr val="000000"/>
                </a:solidFill>
                <a:latin typeface="Times New Roman"/>
              </a:rPr>
              <a:t>6. Benchmarking Against State-of-the-Art Classical Baselines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