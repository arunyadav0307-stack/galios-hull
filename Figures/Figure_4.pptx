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114800" cy="4937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73152"/>
            <a:ext cx="3858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000000"/>
                </a:solidFill>
                <a:latin typeface="Times New Roman"/>
              </a:rPr>
              <a:t>(a) Asymptotic Complexity Scaling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365760"/>
            <a:ext cx="35204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411480" y="1694196"/>
            <a:ext cx="782320" cy="36405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93800" y="1330140"/>
            <a:ext cx="782319" cy="36405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976119" y="966084"/>
            <a:ext cx="782321" cy="36405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758440" y="420000"/>
            <a:ext cx="1173480" cy="54608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11480" y="1967238"/>
            <a:ext cx="782320" cy="18202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93800" y="1785210"/>
            <a:ext cx="782319" cy="18202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976119" y="1603182"/>
            <a:ext cx="782321" cy="18202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58440" y="1330140"/>
            <a:ext cx="1173480" cy="27304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11480" y="1949197"/>
            <a:ext cx="782320" cy="14151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93800" y="1857446"/>
            <a:ext cx="782319" cy="9175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76119" y="1785324"/>
            <a:ext cx="782321" cy="7212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758440" y="1696963"/>
            <a:ext cx="1173480" cy="8836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11480" y="1972322"/>
            <a:ext cx="782320" cy="86552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93800" y="1932078"/>
            <a:ext cx="782319" cy="40244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76119" y="1905569"/>
            <a:ext cx="782321" cy="26509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58440" y="1877469"/>
            <a:ext cx="1173480" cy="28100"/>
          </a:xfrm>
          <a:prstGeom prst="line">
            <a:avLst/>
          </a:prstGeom>
          <a:ln w="165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488" y="420624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000000"/>
                </a:solidFill>
                <a:latin typeface="Times New Roman"/>
              </a:rPr>
              <a:t>Classical Search O(2^n)  |  Grover O(2^(n/2))
Classical GNFS L_N[1/3, c]  |  Shor O(n^3)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267712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Times New Roman"/>
              </a:rPr>
              <a:t>Register Bit-Width n = log2(N)   [Vertical: log10(Operations)]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" y="2578608"/>
            <a:ext cx="3858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000000"/>
                </a:solidFill>
                <a:latin typeface="Times New Roman"/>
              </a:rPr>
              <a:t>(b) Algorithmic Regime-Selection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" y="2889504"/>
            <a:ext cx="1847088" cy="932688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680" b="0">
                <a:solidFill>
                  <a:srgbClr val="000000"/>
                </a:solidFill>
                <a:latin typeface="Times New Roman"/>
              </a:rPr>
              <a:t>Pre-FT Utility (Structured + Shallow):
Symmetry VQE, Classical Shadows,
Local Quantum Simulation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889504"/>
            <a:ext cx="184708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680" b="1">
                <a:solidFill>
                  <a:srgbClr val="000000"/>
                </a:solidFill>
                <a:latin typeface="Times New Roman"/>
              </a:rPr>
              <a:t>Provable Speedup (Structured + Deep):
Shor / Discrete-Log Kernels,
QPE Chemistry, Sparse HHL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" y="3895344"/>
            <a:ext cx="184708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680" b="0">
                <a:solidFill>
                  <a:srgbClr val="000000"/>
                </a:solidFill>
                <a:latin typeface="Times New Roman"/>
              </a:rPr>
              <a:t>Heuristic Benchmark (Generic + Shallow):
QAOA &amp; Shallow QNNs;
Requires Classical Baseline 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3895344"/>
            <a:ext cx="1847088" cy="932688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680" b="0">
                <a:solidFill>
                  <a:srgbClr val="000000"/>
                </a:solidFill>
                <a:latin typeface="Times New Roman"/>
              </a:rPr>
              <a:t>Quadratic / Conditional (Generic + Deep):
Grover O(√N); QRAM &amp; State-Prep
Overheads Constrain Speedup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