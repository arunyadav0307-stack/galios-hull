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114800" cy="49377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" y="7315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Times New Roman"/>
              </a:rPr>
              <a:t>(a) Qubit Bloch Sphere</a:t>
            </a:r>
          </a:p>
        </p:txBody>
      </p:sp>
      <p:sp>
        <p:nvSpPr>
          <p:cNvPr id="3" name="Oval 2"/>
          <p:cNvSpPr/>
          <p:nvPr/>
        </p:nvSpPr>
        <p:spPr>
          <a:xfrm>
            <a:off x="256032" y="411480"/>
            <a:ext cx="1234440" cy="1234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/>
            </a:r>
          </a:p>
        </p:txBody>
      </p:sp>
      <p:sp>
        <p:nvSpPr>
          <p:cNvPr id="4" name="Oval 3"/>
          <p:cNvSpPr/>
          <p:nvPr/>
        </p:nvSpPr>
        <p:spPr>
          <a:xfrm>
            <a:off x="256032" y="868680"/>
            <a:ext cx="12344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/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3252" y="320040"/>
            <a:ext cx="0" cy="143560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873252" y="603504"/>
            <a:ext cx="425196" cy="42519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4630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>
                <a:solidFill>
                  <a:srgbClr val="000000"/>
                </a:solidFill>
                <a:latin typeface="Times New Roman"/>
              </a:rPr>
              <a:t>|0⟩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3736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>
                <a:solidFill>
                  <a:srgbClr val="000000"/>
                </a:solidFill>
                <a:latin typeface="Times New Roman"/>
              </a:rPr>
              <a:t>|1⟩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3584" y="42062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Times New Roman"/>
              </a:rPr>
              <a:t>|ψ⟩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7315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Times New Roman"/>
              </a:rPr>
              <a:t>(b) Canonical 3-Qubit Circuit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393192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000000"/>
                </a:solidFill>
                <a:latin typeface="Times New Roman"/>
              </a:rPr>
              <a:t>|0⟩q0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03120" y="502920"/>
            <a:ext cx="18288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55648" y="804672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000000"/>
                </a:solidFill>
                <a:latin typeface="Times New Roman"/>
              </a:rPr>
              <a:t>|0⟩q1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03120" y="914400"/>
            <a:ext cx="18288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755648" y="1216152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000000"/>
                </a:solidFill>
                <a:latin typeface="Times New Roman"/>
              </a:rPr>
              <a:t>|0⟩q2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03120" y="1325880"/>
            <a:ext cx="18288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103120" y="1719072"/>
            <a:ext cx="1874519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755648" y="160934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000000"/>
                </a:solidFill>
                <a:latin typeface="Times New Roman"/>
              </a:rPr>
              <a:t>c3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12848" y="365760"/>
            <a:ext cx="2926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780" b="1">
                <a:solidFill>
                  <a:srgbClr val="000000"/>
                </a:solidFill>
                <a:latin typeface="Times New Roman"/>
              </a:rPr>
              <a:t>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1188720"/>
            <a:ext cx="475488" cy="27432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700" b="0">
                <a:solidFill>
                  <a:srgbClr val="000000"/>
                </a:solidFill>
                <a:latin typeface="Times New Roman"/>
              </a:rPr>
              <a:t>Ry(θ1)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24912" y="502920"/>
            <a:ext cx="0" cy="41148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2651760" y="84124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720" b="1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62656" y="914400"/>
            <a:ext cx="0" cy="41148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889504" y="125272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720" b="1">
                <a:solidFill>
                  <a:srgbClr val="000000"/>
                </a:solidFill>
                <a:latin typeface="Times New Roman"/>
              </a:rPr>
              <a:t>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777240"/>
            <a:ext cx="475488" cy="27432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700" b="0">
                <a:solidFill>
                  <a:srgbClr val="000000"/>
                </a:solidFill>
                <a:latin typeface="Times New Roman"/>
              </a:rPr>
              <a:t>Rz(θ2)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75887" y="374904"/>
            <a:ext cx="2743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720" b="1">
                <a:solidFill>
                  <a:srgbClr val="000000"/>
                </a:solidFill>
                <a:latin typeface="Times New Roman"/>
              </a:rPr>
              <a:t>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75887" y="786384"/>
            <a:ext cx="2743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720" b="1">
                <a:solidFill>
                  <a:srgbClr val="000000"/>
                </a:solidFill>
                <a:latin typeface="Times New Roman"/>
              </a:rPr>
              <a:t>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75887" y="1197864"/>
            <a:ext cx="2743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720" b="1">
                <a:solidFill>
                  <a:srgbClr val="000000"/>
                </a:solidFill>
                <a:latin typeface="Times New Roman"/>
              </a:rPr>
              <a:t>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" y="2029968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Times New Roman"/>
              </a:rPr>
              <a:t>(c) Four-Tier Quantum Execution Architecture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6304" y="2331720"/>
            <a:ext cx="3822191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720" b="0">
                <a:solidFill>
                  <a:srgbClr val="000000"/>
                </a:solidFill>
                <a:latin typeface="Times New Roman"/>
              </a:rPr>
              <a:t>Tier 4: Quantum Algorithms &amp; Intelligent Computing (VQE, QAOA, QML, Shor, Grover)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6304" y="2971800"/>
            <a:ext cx="3822191" cy="493776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720" b="0">
                <a:solidFill>
                  <a:srgbClr val="000000"/>
                </a:solidFill>
                <a:latin typeface="Times New Roman"/>
              </a:rPr>
              <a:t>Tier 3: Logical Compilation, Gate Decomposition &amp; Hardware Topology Routing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6304" y="3611880"/>
            <a:ext cx="3822191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720" b="0">
                <a:solidFill>
                  <a:srgbClr val="000000"/>
                </a:solidFill>
                <a:latin typeface="Times New Roman"/>
              </a:rPr>
              <a:t>Tier 2: Error Mitigation (NISQ ZNE/PEC) &amp; Fault-Tolerant QEC (Surface Codes)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6304" y="4251960"/>
            <a:ext cx="3822191" cy="493776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720" b="0">
                <a:solidFill>
                  <a:srgbClr val="000000"/>
                </a:solidFill>
                <a:latin typeface="Times New Roman"/>
              </a:rPr>
              <a:t>Tier 1: Physical Qubit Hardware (Superconducting, Trapped-Ion, Neutral-Atom)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